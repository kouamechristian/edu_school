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  <a:latin typeface="Calibri"/>
              </a:rPr>
              <a:t>GESTION D'ÉTABLISSEMENTS SCOLAIRES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600" b="1" i="0">
                <a:solidFill>
                  <a:srgbClr val="FFFFFF"/>
                </a:solidFill>
                <a:latin typeface="Calibri"/>
              </a:rPr>
              <a:t>EDU-SCHOOL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i="0">
                <a:solidFill>
                  <a:srgbClr val="E2E8F0"/>
                </a:solidFill>
                <a:latin typeface="Calibri"/>
              </a:rPr>
              <a:t>Plateforme web multi-établissements &amp; multi-années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206240"/>
            <a:ext cx="292608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4348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Symfony 6.4  ·  PHP 8.1+  ·  Doctrine ORM 3  ·  MySQL  ·  Twig / Bootstrap  ·  IA Claude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035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Présentation du projet — module par module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4592"/>
            <a:ext cx="146304" cy="7315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VUE D'ENSEMBLE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1148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Sommaire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1">
                <a:solidFill>
                  <a:srgbClr val="334155"/>
                </a:solidFill>
                <a:latin typeface="Calibri"/>
              </a:rPr>
              <a:t>1.  Présentation générale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1">
                <a:solidFill>
                  <a:srgbClr val="334155"/>
                </a:solidFill>
                <a:latin typeface="Calibri"/>
              </a:rPr>
              <a:t>2.  Architecture &amp; stack technique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1">
                <a:solidFill>
                  <a:srgbClr val="334155"/>
                </a:solidFill>
                <a:latin typeface="Calibri"/>
              </a:rPr>
              <a:t>3.  Sécurité &amp; rôles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1">
                <a:solidFill>
                  <a:srgbClr val="334155"/>
                </a:solidFill>
                <a:latin typeface="Calibri"/>
              </a:rPr>
              <a:t>4.  Contexte établissement / année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1">
                <a:solidFill>
                  <a:srgbClr val="334155"/>
                </a:solidFill>
                <a:latin typeface="Calibri"/>
              </a:rPr>
              <a:t>5.  Administration &amp; Configuration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1">
                <a:solidFill>
                  <a:srgbClr val="334155"/>
                </a:solidFill>
                <a:latin typeface="Calibri"/>
              </a:rPr>
              <a:t>6.  Gestion des élèves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1">
                <a:solidFill>
                  <a:srgbClr val="334155"/>
                </a:solidFill>
                <a:latin typeface="Calibri"/>
              </a:rPr>
              <a:t>7.  Académique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1">
                <a:solidFill>
                  <a:srgbClr val="334155"/>
                </a:solidFill>
                <a:latin typeface="Calibri"/>
              </a:rPr>
              <a:t>8.  Notes &amp; Évaluations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46304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1">
                <a:solidFill>
                  <a:srgbClr val="334155"/>
                </a:solidFill>
                <a:latin typeface="Calibri"/>
              </a:rPr>
              <a:t>9.   Absences &amp; Assiduité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1">
                <a:solidFill>
                  <a:srgbClr val="334155"/>
                </a:solidFill>
                <a:latin typeface="Calibri"/>
              </a:rPr>
              <a:t>10.  Ressources Humaines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1">
                <a:solidFill>
                  <a:srgbClr val="334155"/>
                </a:solidFill>
                <a:latin typeface="Calibri"/>
              </a:rPr>
              <a:t>11.  Finances &amp; Caisse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1">
                <a:solidFill>
                  <a:srgbClr val="334155"/>
                </a:solidFill>
                <a:latin typeface="Calibri"/>
              </a:rPr>
              <a:t>12.  Recouvrement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1">
                <a:solidFill>
                  <a:srgbClr val="334155"/>
                </a:solidFill>
                <a:latin typeface="Calibri"/>
              </a:rPr>
              <a:t>13.  Paiement en ligne (GeniusPay)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1">
                <a:solidFill>
                  <a:srgbClr val="334155"/>
                </a:solidFill>
                <a:latin typeface="Calibri"/>
              </a:rPr>
              <a:t>14.  Espaces Parent &amp; Fondateur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1">
                <a:solidFill>
                  <a:srgbClr val="334155"/>
                </a:solidFill>
                <a:latin typeface="Calibri"/>
              </a:rPr>
              <a:t>15.  Communication &amp; Rapports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1">
                <a:solidFill>
                  <a:srgbClr val="334155"/>
                </a:solidFill>
                <a:latin typeface="Calibri"/>
              </a:rPr>
              <a:t>16.  Intelligence Artificielle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EDU-SCHOOL — Plateforme de gestion scolaire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4592"/>
            <a:ext cx="146304" cy="7315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01 · 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1148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Présentation générale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334155"/>
                </a:solidFill>
                <a:latin typeface="Calibri"/>
              </a:rPr>
              <a:t>EDU-SCHOOL couvre tout le cycle de vie de l'élève — de la préinscription à la scolarité, aux notes/bulletins et aux finances — ainsi que l'administration de l'établissement (RH, caisse, recouvrement, communication).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68880"/>
            <a:ext cx="1737360" cy="13716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697480"/>
            <a:ext cx="1737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 i="0">
                <a:solidFill>
                  <a:srgbClr val="10B981"/>
                </a:solidFill>
                <a:latin typeface="Calibri"/>
              </a:rPr>
              <a:t>44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2900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E2E8F0"/>
                </a:solidFill>
                <a:latin typeface="Calibri"/>
              </a:rPr>
              <a:t>Contrôleurs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87168" y="2468880"/>
            <a:ext cx="1737360" cy="13716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87168" y="2697480"/>
            <a:ext cx="1737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 i="0">
                <a:solidFill>
                  <a:srgbClr val="10B981"/>
                </a:solidFill>
                <a:latin typeface="Calibri"/>
              </a:rPr>
              <a:t>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87168" y="342900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E2E8F0"/>
                </a:solidFill>
                <a:latin typeface="Calibri"/>
              </a:rPr>
              <a:t>Entités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34256" y="2468880"/>
            <a:ext cx="1737360" cy="13716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34256" y="2697480"/>
            <a:ext cx="1737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 i="0">
                <a:solidFill>
                  <a:srgbClr val="10B981"/>
                </a:solidFill>
                <a:latin typeface="Calibri"/>
              </a:rPr>
              <a:t>29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34256" y="342900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E2E8F0"/>
                </a:solidFill>
                <a:latin typeface="Calibri"/>
              </a:rPr>
              <a:t>Services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81344" y="2468880"/>
            <a:ext cx="1737360" cy="13716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81344" y="2697480"/>
            <a:ext cx="1737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 i="0">
                <a:solidFill>
                  <a:srgbClr val="10B981"/>
                </a:solidFill>
                <a:latin typeface="Calibri"/>
              </a:rPr>
              <a:t>34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81344" y="342900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E2E8F0"/>
                </a:solidFill>
                <a:latin typeface="Calibri"/>
              </a:rPr>
              <a:t>Formulaires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28432" y="2468880"/>
            <a:ext cx="1737360" cy="13716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28432" y="2697480"/>
            <a:ext cx="1737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 i="0">
                <a:solidFill>
                  <a:srgbClr val="10B981"/>
                </a:solidFill>
                <a:latin typeface="Calibri"/>
              </a:rPr>
              <a:t>209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28432" y="342900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E2E8F0"/>
                </a:solidFill>
                <a:latin typeface="Calibri"/>
              </a:rPr>
              <a:t>Templates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75520" y="2468880"/>
            <a:ext cx="1737360" cy="13716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0" y="2697480"/>
            <a:ext cx="1737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 i="0">
                <a:solidFill>
                  <a:srgbClr val="10B981"/>
                </a:solidFill>
                <a:latin typeface="Calibri"/>
              </a:rPr>
              <a:t>13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342900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E2E8F0"/>
                </a:solidFill>
                <a:latin typeface="Calibri"/>
              </a:rPr>
              <a:t>Rôles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2062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Calibri"/>
              </a:rPr>
              <a:t>Principes fondateurs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617720"/>
            <a:ext cx="10972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alibri"/>
              </a:rPr>
              <a:t>▸  </a:t>
            </a:r>
            <a:r>
              <a:rPr sz="1400" b="1">
                <a:solidFill>
                  <a:srgbClr val="334155"/>
                </a:solidFill>
                <a:latin typeface="Calibri"/>
              </a:rPr>
              <a:t>Multi-établissement : cloisonnement automatique des données par établissement (filtre Doctrine).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alibri"/>
              </a:rPr>
              <a:t>▸  </a:t>
            </a:r>
            <a:r>
              <a:rPr sz="1400" b="1">
                <a:solidFill>
                  <a:srgbClr val="334155"/>
                </a:solidFill>
                <a:latin typeface="Calibri"/>
              </a:rPr>
              <a:t>Multi-année : la scolarité est portée par une inscription annuelle, pas par l'élève.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alibri"/>
              </a:rPr>
              <a:t>▸  </a:t>
            </a:r>
            <a:r>
              <a:rPr sz="1400" b="1">
                <a:solidFill>
                  <a:srgbClr val="334155"/>
                </a:solidFill>
                <a:latin typeface="Calibri"/>
              </a:rPr>
              <a:t>Student = référentiel d'identité pur ; toute la scolarité vit dans Registration.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alibri"/>
              </a:rPr>
              <a:t>▸  </a:t>
            </a:r>
            <a:r>
              <a:rPr sz="1400" b="1">
                <a:solidFill>
                  <a:srgbClr val="334155"/>
                </a:solidFill>
                <a:latin typeface="Calibri"/>
              </a:rPr>
              <a:t>Sécurité par rôles hiérarchiques (du parent au super-administrateur).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EDU-SCHOOL — Plateforme de gestion scolaire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4592"/>
            <a:ext cx="146304" cy="7315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02 · TECHNIQUE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1148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Architecture &amp; stack technique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5394960" cy="2286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0876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  <a:latin typeface="Calibri"/>
              </a:rPr>
              <a:t>Socle technique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0116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10B981"/>
                </a:solidFill>
                <a:latin typeface="Calibri"/>
              </a:rPr>
              <a:t>▸  </a:t>
            </a:r>
            <a:r>
              <a:rPr sz="1300" b="1">
                <a:solidFill>
                  <a:srgbClr val="E2E8F0"/>
                </a:solidFill>
                <a:latin typeface="Calibri"/>
              </a:rPr>
              <a:t>Symfony 6.4 (LTS) · PHP 8.1+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10B981"/>
                </a:solidFill>
                <a:latin typeface="Calibri"/>
              </a:rPr>
              <a:t>▸  </a:t>
            </a:r>
            <a:r>
              <a:rPr sz="1300" b="1">
                <a:solidFill>
                  <a:srgbClr val="E2E8F0"/>
                </a:solidFill>
                <a:latin typeface="Calibri"/>
              </a:rPr>
              <a:t>Doctrine ORM 3 + migrations · MySQL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10B981"/>
                </a:solidFill>
                <a:latin typeface="Calibri"/>
              </a:rPr>
              <a:t>▸  </a:t>
            </a:r>
            <a:r>
              <a:rPr sz="1300" b="1">
                <a:solidFill>
                  <a:srgbClr val="E2E8F0"/>
                </a:solidFill>
                <a:latin typeface="Calibri"/>
              </a:rPr>
              <a:t>Twig + Bootstrap 5 + FontAwesome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10B981"/>
                </a:solidFill>
                <a:latin typeface="Calibri"/>
              </a:rPr>
              <a:t>▸  </a:t>
            </a:r>
            <a:r>
              <a:rPr sz="1300" b="1">
                <a:solidFill>
                  <a:srgbClr val="E2E8F0"/>
                </a:solidFill>
                <a:latin typeface="Calibri"/>
              </a:rPr>
              <a:t>VichUploader · KnpPaginator (50/page)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371600"/>
            <a:ext cx="5394960" cy="2286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50876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  <a:latin typeface="Calibri"/>
              </a:rPr>
              <a:t>Briques métier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0116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10B981"/>
                </a:solidFill>
                <a:latin typeface="Calibri"/>
              </a:rPr>
              <a:t>▸  </a:t>
            </a:r>
            <a:r>
              <a:rPr sz="1300" b="1">
                <a:solidFill>
                  <a:srgbClr val="E2E8F0"/>
                </a:solidFill>
                <a:latin typeface="Calibri"/>
              </a:rPr>
              <a:t>Dompdf — reçus, bulletins, rapports PDF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10B981"/>
                </a:solidFill>
                <a:latin typeface="Calibri"/>
              </a:rPr>
              <a:t>▸  </a:t>
            </a:r>
            <a:r>
              <a:rPr sz="1300" b="1">
                <a:solidFill>
                  <a:srgbClr val="E2E8F0"/>
                </a:solidFill>
                <a:latin typeface="Calibri"/>
              </a:rPr>
              <a:t>PhpSpreadsheet — imports/exports Excel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10B981"/>
                </a:solidFill>
                <a:latin typeface="Calibri"/>
              </a:rPr>
              <a:t>▸  </a:t>
            </a:r>
            <a:r>
              <a:rPr sz="1300" b="1">
                <a:solidFill>
                  <a:srgbClr val="E2E8F0"/>
                </a:solidFill>
                <a:latin typeface="Calibri"/>
              </a:rPr>
              <a:t>endroid/qr-code — reçus &amp; badges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10B981"/>
                </a:solidFill>
                <a:latin typeface="Calibri"/>
              </a:rPr>
              <a:t>▸  </a:t>
            </a:r>
            <a:r>
              <a:rPr sz="1300" b="1">
                <a:solidFill>
                  <a:srgbClr val="E2E8F0"/>
                </a:solidFill>
                <a:latin typeface="Calibri"/>
              </a:rPr>
              <a:t>CKEditor + elFinder — documents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10B981"/>
                </a:solidFill>
                <a:latin typeface="Calibri"/>
              </a:rPr>
              <a:t>▸  </a:t>
            </a:r>
            <a:r>
              <a:rPr sz="1300" b="1">
                <a:solidFill>
                  <a:srgbClr val="E2E8F0"/>
                </a:solidFill>
                <a:latin typeface="Calibri"/>
              </a:rPr>
              <a:t>API Anthropic Claude · GeniusPay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9319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Calibri"/>
              </a:rPr>
              <a:t>Organisation du code (src/)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3891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0B981"/>
                </a:solidFill>
                <a:latin typeface="Calibri"/>
              </a:rPr>
              <a:t>▸  </a:t>
            </a:r>
            <a:r>
              <a:rPr sz="1400" b="1">
                <a:solidFill>
                  <a:srgbClr val="334155"/>
                </a:solidFill>
                <a:latin typeface="Calibri"/>
              </a:rPr>
              <a:t>Controller/ — 44 contrôleurs (+ Concern, Portal, Webhook)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0B981"/>
                </a:solidFill>
                <a:latin typeface="Calibri"/>
              </a:rPr>
              <a:t>▸  </a:t>
            </a:r>
            <a:r>
              <a:rPr sz="1400" b="1">
                <a:solidFill>
                  <a:srgbClr val="334155"/>
                </a:solidFill>
                <a:latin typeface="Calibri"/>
              </a:rPr>
              <a:t>Entity/ — 41 entités Doctrine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0B981"/>
                </a:solidFill>
                <a:latin typeface="Calibri"/>
              </a:rPr>
              <a:t>▸  </a:t>
            </a:r>
            <a:r>
              <a:rPr sz="1400" b="1">
                <a:solidFill>
                  <a:srgbClr val="334155"/>
                </a:solidFill>
                <a:latin typeface="Calibri"/>
              </a:rPr>
              <a:t>Service/ — 29 services métier (+ AI/, Payment/)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0B981"/>
                </a:solidFill>
                <a:latin typeface="Calibri"/>
              </a:rPr>
              <a:t>▸  </a:t>
            </a:r>
            <a:r>
              <a:rPr sz="1400" b="1">
                <a:solidFill>
                  <a:srgbClr val="334155"/>
                </a:solidFill>
                <a:latin typeface="Calibri"/>
              </a:rPr>
              <a:t>Form/ · Repository/ · Security/ · EventSubscriber/ · Doctrine/Filter/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EDU-SCHOOL — Plateforme de gestion scolaire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4592"/>
            <a:ext cx="146304" cy="7315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03 · SÉCURITÉ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1148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Sécurité &amp; rôles hiérarchiques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Connexion par identifiant OU e-mail · anti-bruteforce (3 essais/2 min) · « se souvenir de moi ».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67047" y="1874519"/>
            <a:ext cx="3657600" cy="56692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67047" y="1929383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ROLE_SUPER_ADMIN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09847" y="2532887"/>
            <a:ext cx="4572000" cy="56692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09847" y="2587751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ROLE_FONDATEUR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52647" y="3191255"/>
            <a:ext cx="5486400" cy="56692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52647" y="3246119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ROLE_ADMIN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09647" y="3849623"/>
            <a:ext cx="7772400" cy="56692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09647" y="3904487"/>
            <a:ext cx="7772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ROLE_DIRECTEUR / CAISSE / INSCRIPTION / RH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00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Rôles opérationnels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16636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Calibri"/>
              </a:rPr>
              <a:t>▸  </a:t>
            </a:r>
            <a:r>
              <a:rPr sz="1250" b="1">
                <a:solidFill>
                  <a:srgbClr val="334155"/>
                </a:solidFill>
                <a:latin typeface="Calibri"/>
              </a:rPr>
              <a:t>ENSEIGNANT — ses cours, élèves, évaluations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Calibri"/>
              </a:rPr>
              <a:t>▸  </a:t>
            </a:r>
            <a:r>
              <a:rPr sz="1250" b="1">
                <a:solidFill>
                  <a:srgbClr val="334155"/>
                </a:solidFill>
                <a:latin typeface="Calibri"/>
              </a:rPr>
              <a:t>EDUCATEUR — saisie/suivi des absences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Calibri"/>
              </a:rPr>
              <a:t>▸  </a:t>
            </a:r>
            <a:r>
              <a:rPr sz="1250" b="1">
                <a:solidFill>
                  <a:srgbClr val="334155"/>
                </a:solidFill>
                <a:latin typeface="Calibri"/>
              </a:rPr>
              <a:t>INSCRIPTION — gestion des élèves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516636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Calibri"/>
              </a:rPr>
              <a:t>▸  </a:t>
            </a:r>
            <a:r>
              <a:rPr sz="1250" b="1">
                <a:solidFill>
                  <a:srgbClr val="334155"/>
                </a:solidFill>
                <a:latin typeface="Calibri"/>
              </a:rPr>
              <a:t>CAISSE — finances (hérite INSCRIPTION + RECOUVREMENT)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Calibri"/>
              </a:rPr>
              <a:t>▸  </a:t>
            </a:r>
            <a:r>
              <a:rPr sz="1250" b="1">
                <a:solidFill>
                  <a:srgbClr val="334155"/>
                </a:solidFill>
                <a:latin typeface="Calibri"/>
              </a:rPr>
              <a:t>RECOUVREMENT — soldes &amp; relances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Calibri"/>
              </a:rPr>
              <a:t>▸  </a:t>
            </a:r>
            <a:r>
              <a:rPr sz="1250" b="1">
                <a:solidFill>
                  <a:srgbClr val="334155"/>
                </a:solidFill>
                <a:latin typeface="Calibri"/>
              </a:rPr>
              <a:t>PARENT — espace parent uniquement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EDU-SCHOOL — Plateforme de gestion scolaire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4592"/>
            <a:ext cx="146304" cy="7315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04 · TRANSVERSE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1148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Contexte établissement &amp; année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0B981"/>
                </a:solidFill>
                <a:latin typeface="Calibri"/>
              </a:rPr>
              <a:t>▸  </a:t>
            </a:r>
            <a:r>
              <a:rPr sz="1500" b="1">
                <a:solidFill>
                  <a:srgbClr val="334155"/>
                </a:solidFill>
                <a:latin typeface="Calibri"/>
              </a:rPr>
              <a:t>Établissement courant + année scolaire courante mémorisés en session.</a:t>
            </a:r>
          </a:p>
          <a:p>
            <a:pPr lvl="1">
              <a:spcAft>
                <a:spcPts val="1000"/>
              </a:spcAft>
            </a:pPr>
            <a:r>
              <a:rPr sz="1500" b="1">
                <a:solidFill>
                  <a:srgbClr val="64748B"/>
                </a:solidFill>
                <a:latin typeface="Calibri"/>
              </a:rPr>
              <a:t>•  </a:t>
            </a:r>
            <a:r>
              <a:rPr sz="1400" b="0">
                <a:solidFill>
                  <a:srgbClr val="334155"/>
                </a:solidFill>
                <a:latin typeface="Calibri"/>
              </a:rPr>
              <a:t>SchoolContextService — getCurrentSchool() / setCurrentSchool() / getCurrentSchoolYear().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0B981"/>
                </a:solidFill>
                <a:latin typeface="Calibri"/>
              </a:rPr>
              <a:t>▸  </a:t>
            </a:r>
            <a:r>
              <a:rPr sz="1500" b="1">
                <a:solidFill>
                  <a:srgbClr val="334155"/>
                </a:solidFill>
                <a:latin typeface="Calibri"/>
              </a:rPr>
              <a:t>Un utilisateur peut être rattaché à plusieurs établissements (ManyToMany) et basculer.</a:t>
            </a:r>
          </a:p>
          <a:p>
            <a:pPr lvl="1">
              <a:spcAft>
                <a:spcPts val="1000"/>
              </a:spcAft>
            </a:pPr>
            <a:r>
              <a:rPr sz="1500" b="1">
                <a:solidFill>
                  <a:srgbClr val="64748B"/>
                </a:solidFill>
                <a:latin typeface="Calibri"/>
              </a:rPr>
              <a:t>•  </a:t>
            </a:r>
            <a:r>
              <a:rPr sz="1400" b="0">
                <a:solidFill>
                  <a:srgbClr val="334155"/>
                </a:solidFill>
                <a:latin typeface="Calibri"/>
              </a:rPr>
              <a:t>Le dernier établissement utilisé est persisté sur le compte (lastSchool).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0B981"/>
                </a:solidFill>
                <a:latin typeface="Calibri"/>
              </a:rPr>
              <a:t>▸  </a:t>
            </a:r>
            <a:r>
              <a:rPr sz="1500" b="1">
                <a:solidFill>
                  <a:srgbClr val="334155"/>
                </a:solidFill>
                <a:latin typeface="Calibri"/>
              </a:rPr>
              <a:t>SchoolFilter (filtre Doctrine) applique automatiquement la restriction par établissement.</a:t>
            </a:r>
          </a:p>
          <a:p>
            <a:pPr lvl="1">
              <a:spcAft>
                <a:spcPts val="1000"/>
              </a:spcAft>
            </a:pPr>
            <a:r>
              <a:rPr sz="1500" b="1">
                <a:solidFill>
                  <a:srgbClr val="64748B"/>
                </a:solidFill>
                <a:latin typeface="Calibri"/>
              </a:rPr>
              <a:t>•  </a:t>
            </a:r>
            <a:r>
              <a:rPr sz="1400" b="0">
                <a:solidFill>
                  <a:srgbClr val="334155"/>
                </a:solidFill>
                <a:latin typeface="Calibri"/>
              </a:rPr>
              <a:t>Garantit le cloisonnement des données entre établissements.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0B981"/>
                </a:solidFill>
                <a:latin typeface="Calibri"/>
              </a:rPr>
              <a:t>▸  </a:t>
            </a:r>
            <a:r>
              <a:rPr sz="1500" b="1">
                <a:solidFill>
                  <a:srgbClr val="334155"/>
                </a:solidFill>
                <a:latin typeface="Calibri"/>
              </a:rPr>
              <a:t>SchoolContextSubscriber active le contexte à chaque requête.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EDU-SCHOOL — Plateforme de gestion scolaire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4592"/>
            <a:ext cx="146304" cy="7315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05 ·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1148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Administration &amp; Configuration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280160"/>
            <a:ext cx="502920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44168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Accès : ROLE_ADMIN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659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Entités &amp; données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7744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 b="1">
                <a:solidFill>
                  <a:srgbClr val="10B981"/>
                </a:solidFill>
                <a:latin typeface="Calibri"/>
              </a:rPr>
              <a:t>▸  </a:t>
            </a:r>
            <a:r>
              <a:rPr sz="1250" b="1">
                <a:solidFill>
                  <a:srgbClr val="334155"/>
                </a:solidFill>
                <a:latin typeface="Calibri"/>
              </a:rPr>
              <a:t>School — fiche établissement (type, logo, cachet, tutelle)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10B981"/>
                </a:solidFill>
                <a:latin typeface="Calibri"/>
              </a:rPr>
              <a:t>▸  </a:t>
            </a:r>
            <a:r>
              <a:rPr sz="1250" b="1">
                <a:solidFill>
                  <a:srgbClr val="334155"/>
                </a:solidFill>
                <a:latin typeface="Calibri"/>
              </a:rPr>
              <a:t>SchoolGroup — réseau d'établissements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10B981"/>
                </a:solidFill>
                <a:latin typeface="Calibri"/>
              </a:rPr>
              <a:t>▸  </a:t>
            </a:r>
            <a:r>
              <a:rPr sz="1250" b="1">
                <a:solidFill>
                  <a:srgbClr val="334155"/>
                </a:solidFill>
                <a:latin typeface="Calibri"/>
              </a:rPr>
              <a:t>SchoolYear → Period — années &amp; trimestres/semestres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10B981"/>
                </a:solidFill>
                <a:latin typeface="Calibri"/>
              </a:rPr>
              <a:t>▸  </a:t>
            </a:r>
            <a:r>
              <a:rPr sz="1250" b="1">
                <a:solidFill>
                  <a:srgbClr val="334155"/>
                </a:solidFill>
                <a:latin typeface="Calibri"/>
              </a:rPr>
              <a:t>Cycle → Level → Subject — structure pédagogique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10B981"/>
                </a:solidFill>
                <a:latin typeface="Calibri"/>
              </a:rPr>
              <a:t>▸  </a:t>
            </a:r>
            <a:r>
              <a:rPr sz="1250" b="1">
                <a:solidFill>
                  <a:srgbClr val="334155"/>
                </a:solidFill>
                <a:latin typeface="Calibri"/>
              </a:rPr>
              <a:t>Faculty, Round, Room, TimeSlot — filières, séries, salles, créneaux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10B981"/>
                </a:solidFill>
                <a:latin typeface="Calibri"/>
              </a:rPr>
              <a:t>▸  </a:t>
            </a:r>
            <a:r>
              <a:rPr sz="1250" b="1">
                <a:solidFill>
                  <a:srgbClr val="334155"/>
                </a:solidFill>
                <a:latin typeface="Calibri"/>
              </a:rPr>
              <a:t>SubjectType, DocumentType — référentiels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9659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Contrôleurs &amp; 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37744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 b="1">
                <a:solidFill>
                  <a:srgbClr val="10B981"/>
                </a:solidFill>
                <a:latin typeface="Calibri"/>
              </a:rPr>
              <a:t>▸  </a:t>
            </a:r>
            <a:r>
              <a:rPr sz="1250" b="1">
                <a:solidFill>
                  <a:srgbClr val="334155"/>
                </a:solidFill>
                <a:latin typeface="Calibri"/>
              </a:rPr>
              <a:t>SchoolController · SchoolGroupController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10B981"/>
                </a:solidFill>
                <a:latin typeface="Calibri"/>
              </a:rPr>
              <a:t>▸  </a:t>
            </a:r>
            <a:r>
              <a:rPr sz="1250" b="1">
                <a:solidFill>
                  <a:srgbClr val="334155"/>
                </a:solidFill>
                <a:latin typeface="Calibri"/>
              </a:rPr>
              <a:t>SchoolYearController · UserController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10B981"/>
                </a:solidFill>
                <a:latin typeface="Calibri"/>
              </a:rPr>
              <a:t>▸  </a:t>
            </a:r>
            <a:r>
              <a:rPr sz="1250" b="1">
                <a:solidFill>
                  <a:srgbClr val="334155"/>
                </a:solidFill>
                <a:latin typeface="Calibri"/>
              </a:rPr>
              <a:t>CycleController · LevelController · FacultyController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10B981"/>
                </a:solidFill>
                <a:latin typeface="Calibri"/>
              </a:rPr>
              <a:t>▸  </a:t>
            </a:r>
            <a:r>
              <a:rPr sz="1250" b="1">
                <a:solidFill>
                  <a:srgbClr val="334155"/>
                </a:solidFill>
                <a:latin typeface="Calibri"/>
              </a:rPr>
              <a:t>SubjectController · RoomController · TimeSlotController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10B981"/>
                </a:solidFill>
                <a:latin typeface="Calibri"/>
              </a:rPr>
              <a:t>▸  </a:t>
            </a:r>
            <a:r>
              <a:rPr sz="1250" b="1">
                <a:solidFill>
                  <a:srgbClr val="334155"/>
                </a:solidFill>
                <a:latin typeface="Calibri"/>
              </a:rPr>
              <a:t>RoundController · DocumentTypeController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257800"/>
            <a:ext cx="10927080" cy="10058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330952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Règles métier clés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650992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50" b="1">
                <a:solidFill>
                  <a:srgbClr val="10B981"/>
                </a:solidFill>
                <a:latin typeface="Calibri"/>
              </a:rPr>
              <a:t>▸  </a:t>
            </a:r>
            <a:r>
              <a:rPr sz="1150" b="1">
                <a:solidFill>
                  <a:srgbClr val="E2E8F0"/>
                </a:solidFill>
                <a:latin typeface="Calibri"/>
              </a:rPr>
              <a:t>Hiérarchie pédagogique : Cycle → Level → Classroom ; Subject rattaché à un Level.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EDU-SCHOOL — Plateforme de gestion scolaire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4592"/>
            <a:ext cx="146304" cy="7315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06 · ÉLÈVES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1148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Gestion des élèves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280160"/>
            <a:ext cx="502920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44168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Accès : ROLE_INSCRIPTION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659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Entités &amp; données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7744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 b="1">
                <a:solidFill>
                  <a:srgbClr val="10B981"/>
                </a:solidFill>
                <a:latin typeface="Calibri"/>
              </a:rPr>
              <a:t>▸  </a:t>
            </a:r>
            <a:r>
              <a:rPr sz="1250" b="1">
                <a:solidFill>
                  <a:srgbClr val="334155"/>
                </a:solidFill>
                <a:latin typeface="Calibri"/>
              </a:rPr>
              <a:t>Student — référentiel d'identité (état civil, contacts, matricules)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10B981"/>
                </a:solidFill>
                <a:latin typeface="Calibri"/>
              </a:rPr>
              <a:t>▸  </a:t>
            </a:r>
            <a:r>
              <a:rPr sz="1250" b="1">
                <a:solidFill>
                  <a:srgbClr val="334155"/>
                </a:solidFill>
                <a:latin typeface="Calibri"/>
              </a:rPr>
              <a:t>PreRegistration — demande d'inscription (pending → validé → inscrit)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10B981"/>
                </a:solidFill>
                <a:latin typeface="Calibri"/>
              </a:rPr>
              <a:t>▸  </a:t>
            </a:r>
            <a:r>
              <a:rPr sz="1250" b="1">
                <a:solidFill>
                  <a:srgbClr val="334155"/>
                </a:solidFill>
                <a:latin typeface="Calibri"/>
              </a:rPr>
              <a:t>PreRegistrationDocument — pièces jointes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10B981"/>
                </a:solidFill>
                <a:latin typeface="Calibri"/>
              </a:rPr>
              <a:t>▸  </a:t>
            </a:r>
            <a:r>
              <a:rPr sz="1250" b="1">
                <a:solidFill>
                  <a:srgbClr val="334155"/>
                </a:solidFill>
                <a:latin typeface="Calibri"/>
              </a:rPr>
              <a:t>Registration — inscription annuelle (École + Année + Classe)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10B981"/>
                </a:solidFill>
                <a:latin typeface="Calibri"/>
              </a:rPr>
              <a:t>▸  </a:t>
            </a:r>
            <a:r>
              <a:rPr sz="1250" b="1">
                <a:solidFill>
                  <a:srgbClr val="334155"/>
                </a:solidFill>
                <a:latin typeface="Calibri"/>
              </a:rPr>
              <a:t>StudentDropout / StudentTransfer — abandons &amp; transferts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9659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Contrôleurs &amp; 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37744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 b="1">
                <a:solidFill>
                  <a:srgbClr val="10B981"/>
                </a:solidFill>
                <a:latin typeface="Calibri"/>
              </a:rPr>
              <a:t>▸  </a:t>
            </a:r>
            <a:r>
              <a:rPr sz="1250" b="1">
                <a:solidFill>
                  <a:srgbClr val="334155"/>
                </a:solidFill>
                <a:latin typeface="Calibri"/>
              </a:rPr>
              <a:t>PreRegistrationController · RegistrationController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10B981"/>
                </a:solidFill>
                <a:latin typeface="Calibri"/>
              </a:rPr>
              <a:t>▸  </a:t>
            </a:r>
            <a:r>
              <a:rPr sz="1250" b="1">
                <a:solidFill>
                  <a:srgbClr val="334155"/>
                </a:solidFill>
                <a:latin typeface="Calibri"/>
              </a:rPr>
              <a:t>StudentController · StudentDropoutController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10B981"/>
                </a:solidFill>
                <a:latin typeface="Calibri"/>
              </a:rPr>
              <a:t>▸  </a:t>
            </a:r>
            <a:r>
              <a:rPr sz="1250" b="1">
                <a:solidFill>
                  <a:srgbClr val="334155"/>
                </a:solidFill>
                <a:latin typeface="Calibri"/>
              </a:rPr>
              <a:t>EnrollmentService — inscription depuis préinscription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10B981"/>
                </a:solidFill>
                <a:latin typeface="Calibri"/>
              </a:rPr>
              <a:t>▸  </a:t>
            </a:r>
            <a:r>
              <a:rPr sz="1250" b="1">
                <a:solidFill>
                  <a:srgbClr val="334155"/>
                </a:solidFill>
                <a:latin typeface="Calibri"/>
              </a:rPr>
              <a:t>RegistrationManager — source de vérité scolarité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10B981"/>
                </a:solidFill>
                <a:latin typeface="Calibri"/>
              </a:rPr>
              <a:t>▸  </a:t>
            </a:r>
            <a:r>
              <a:rPr sz="1250" b="1">
                <a:solidFill>
                  <a:srgbClr val="334155"/>
                </a:solidFill>
                <a:latin typeface="Calibri"/>
              </a:rPr>
              <a:t>MatriculeGenerator · PreRegistrationFactory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257800"/>
            <a:ext cx="10927080" cy="10058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330952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Règles métier clés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650992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50" b="1">
                <a:solidFill>
                  <a:srgbClr val="10B981"/>
                </a:solidFill>
                <a:latin typeface="Calibri"/>
              </a:rPr>
              <a:t>▸  </a:t>
            </a:r>
            <a:r>
              <a:rPr sz="1150" b="1">
                <a:solidFill>
                  <a:srgbClr val="E2E8F0"/>
                </a:solidFill>
                <a:latin typeface="Calibri"/>
              </a:rPr>
              <a:t>Workflow : Préinscription → Validation → Inscription. Une seule inscription par élève et par année ; ancien élève réutilisé sans duplication.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EDU-SCHOOL — Plateforme de gestion scolaire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4592"/>
            <a:ext cx="146304" cy="7315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07 · ACADÉMIQUE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1148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Académique — classes &amp; emploi du temps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280160"/>
            <a:ext cx="502920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44168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Accès : ROLE_DIRECTEUR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659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Entités &amp; données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7744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 b="1">
                <a:solidFill>
                  <a:srgbClr val="10B981"/>
                </a:solidFill>
                <a:latin typeface="Calibri"/>
              </a:rPr>
              <a:t>▸  </a:t>
            </a:r>
            <a:r>
              <a:rPr sz="1250" b="1">
                <a:solidFill>
                  <a:srgbClr val="334155"/>
                </a:solidFill>
                <a:latin typeface="Calibri"/>
              </a:rPr>
              <a:t>Classroom — classe d'une année (niveau, filière, capacité, prof principal, salle)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10B981"/>
                </a:solidFill>
                <a:latin typeface="Calibri"/>
              </a:rPr>
              <a:t>▸  </a:t>
            </a:r>
            <a:r>
              <a:rPr sz="1250" b="1">
                <a:solidFill>
                  <a:srgbClr val="334155"/>
                </a:solidFill>
                <a:latin typeface="Calibri"/>
              </a:rPr>
              <a:t>Course — matière + enseignant + créneau + salle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10B981"/>
                </a:solidFill>
                <a:latin typeface="Calibri"/>
              </a:rPr>
              <a:t>▸  </a:t>
            </a:r>
            <a:r>
              <a:rPr sz="1250" b="1">
                <a:solidFill>
                  <a:srgbClr val="334155"/>
                </a:solidFill>
                <a:latin typeface="Calibri"/>
              </a:rPr>
              <a:t>Period — trimestres / semestres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9659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Contrôleurs &amp; 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37744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 b="1">
                <a:solidFill>
                  <a:srgbClr val="10B981"/>
                </a:solidFill>
                <a:latin typeface="Calibri"/>
              </a:rPr>
              <a:t>▸  </a:t>
            </a:r>
            <a:r>
              <a:rPr sz="1250" b="1">
                <a:solidFill>
                  <a:srgbClr val="334155"/>
                </a:solidFill>
                <a:latin typeface="Calibri"/>
              </a:rPr>
              <a:t>ClassroomController · CourseController · PeriodController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10B981"/>
                </a:solidFill>
                <a:latin typeface="Calibri"/>
              </a:rPr>
              <a:t>▸  </a:t>
            </a:r>
            <a:r>
              <a:rPr sz="1250" b="1">
                <a:solidFill>
                  <a:srgbClr val="334155"/>
                </a:solidFill>
                <a:latin typeface="Calibri"/>
              </a:rPr>
              <a:t>Espace Enseignant :</a:t>
            </a:r>
          </a:p>
          <a:p>
            <a:pPr lvl="1">
              <a:spcAft>
                <a:spcPts val="500"/>
              </a:spcAft>
            </a:pPr>
            <a:r>
              <a:rPr sz="1250" b="1">
                <a:solidFill>
                  <a:srgbClr val="64748B"/>
                </a:solidFill>
                <a:latin typeface="Calibri"/>
              </a:rPr>
              <a:t>•  </a:t>
            </a:r>
            <a:r>
              <a:rPr sz="1150" b="0">
                <a:solidFill>
                  <a:srgbClr val="334155"/>
                </a:solidFill>
                <a:latin typeface="Calibri"/>
              </a:rPr>
              <a:t>Mes Cours (emploi du temps)</a:t>
            </a:r>
          </a:p>
          <a:p>
            <a:pPr lvl="1">
              <a:spcAft>
                <a:spcPts val="500"/>
              </a:spcAft>
            </a:pPr>
            <a:r>
              <a:rPr sz="1250" b="1">
                <a:solidFill>
                  <a:srgbClr val="64748B"/>
                </a:solidFill>
                <a:latin typeface="Calibri"/>
              </a:rPr>
              <a:t>•  </a:t>
            </a:r>
            <a:r>
              <a:rPr sz="1150" b="0">
                <a:solidFill>
                  <a:srgbClr val="334155"/>
                </a:solidFill>
                <a:latin typeface="Calibri"/>
              </a:rPr>
              <a:t>Mes élèves (classes enseignées)</a:t>
            </a:r>
          </a:p>
          <a:p>
            <a:pPr lvl="1">
              <a:spcAft>
                <a:spcPts val="500"/>
              </a:spcAft>
            </a:pPr>
            <a:r>
              <a:rPr sz="1250" b="1">
                <a:solidFill>
                  <a:srgbClr val="64748B"/>
                </a:solidFill>
                <a:latin typeface="Calibri"/>
              </a:rPr>
              <a:t>•  </a:t>
            </a:r>
            <a:r>
              <a:rPr sz="1150" b="0">
                <a:solidFill>
                  <a:srgbClr val="334155"/>
                </a:solidFill>
                <a:latin typeface="Calibri"/>
              </a:rPr>
              <a:t>Évaluations (saisie des notes)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257800"/>
            <a:ext cx="10927080" cy="10058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330952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Règles métier clés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650992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50" b="1">
                <a:solidFill>
                  <a:srgbClr val="10B981"/>
                </a:solidFill>
                <a:latin typeface="Calibri"/>
              </a:rPr>
              <a:t>▸  </a:t>
            </a:r>
            <a:r>
              <a:rPr sz="1150" b="1">
                <a:solidFill>
                  <a:srgbClr val="E2E8F0"/>
                </a:solidFill>
                <a:latin typeface="Calibri"/>
              </a:rPr>
              <a:t>Le niveau d'une inscription se déduit de la classe ; l'emploi du temps relie Classroom, Subject, TimeSlot et Room.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EDU-SCHOOL — Plateforme de gestion scolaire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4592"/>
            <a:ext cx="146304" cy="7315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08 · ÉVALUATION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1148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Notes &amp; Évaluations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280160"/>
            <a:ext cx="502920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44168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Accès : ROLE_ENSEIGNANT / DIRECTEUR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659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Entités &amp; données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7744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 b="1">
                <a:solidFill>
                  <a:srgbClr val="10B981"/>
                </a:solidFill>
                <a:latin typeface="Calibri"/>
              </a:rPr>
              <a:t>▸  </a:t>
            </a:r>
            <a:r>
              <a:rPr sz="1250" b="1">
                <a:solidFill>
                  <a:srgbClr val="334155"/>
                </a:solidFill>
                <a:latin typeface="Calibri"/>
              </a:rPr>
              <a:t>Evaluation — devoir/composition (barème, coefficient, période)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10B981"/>
                </a:solidFill>
                <a:latin typeface="Calibri"/>
              </a:rPr>
              <a:t>▸  </a:t>
            </a:r>
            <a:r>
              <a:rPr sz="1250" b="1">
                <a:solidFill>
                  <a:srgbClr val="334155"/>
                </a:solidFill>
                <a:latin typeface="Calibri"/>
              </a:rPr>
              <a:t>Grade — note d'un élève (valeur, statut, appréciation)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10B981"/>
                </a:solidFill>
                <a:latin typeface="Calibri"/>
              </a:rPr>
              <a:t>▸  </a:t>
            </a:r>
            <a:r>
              <a:rPr sz="1250" b="1">
                <a:solidFill>
                  <a:srgbClr val="334155"/>
                </a:solidFill>
                <a:latin typeface="Calibri"/>
              </a:rPr>
              <a:t>GeneratedBulletin — trace des bulletins générés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9659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Contrôleurs &amp; 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37744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 b="1">
                <a:solidFill>
                  <a:srgbClr val="10B981"/>
                </a:solidFill>
                <a:latin typeface="Calibri"/>
              </a:rPr>
              <a:t>▸  </a:t>
            </a:r>
            <a:r>
              <a:rPr sz="1250" b="1">
                <a:solidFill>
                  <a:srgbClr val="334155"/>
                </a:solidFill>
                <a:latin typeface="Calibri"/>
              </a:rPr>
              <a:t>EvaluationController · BulletinController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10B981"/>
                </a:solidFill>
                <a:latin typeface="Calibri"/>
              </a:rPr>
              <a:t>▸  </a:t>
            </a:r>
            <a:r>
              <a:rPr sz="1250" b="1">
                <a:solidFill>
                  <a:srgbClr val="334155"/>
                </a:solidFill>
                <a:latin typeface="Calibri"/>
              </a:rPr>
              <a:t>AcademicReportController — stats, majors, répartitions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10B981"/>
                </a:solidFill>
                <a:latin typeface="Calibri"/>
              </a:rPr>
              <a:t>▸  </a:t>
            </a:r>
            <a:r>
              <a:rPr sz="1250" b="1">
                <a:solidFill>
                  <a:srgbClr val="334155"/>
                </a:solidFill>
                <a:latin typeface="Calibri"/>
              </a:rPr>
              <a:t>GradeCalculationService :</a:t>
            </a:r>
          </a:p>
          <a:p>
            <a:pPr lvl="1">
              <a:spcAft>
                <a:spcPts val="500"/>
              </a:spcAft>
            </a:pPr>
            <a:r>
              <a:rPr sz="1250" b="1">
                <a:solidFill>
                  <a:srgbClr val="64748B"/>
                </a:solidFill>
                <a:latin typeface="Calibri"/>
              </a:rPr>
              <a:t>•  </a:t>
            </a:r>
            <a:r>
              <a:rPr sz="1150" b="0">
                <a:solidFill>
                  <a:srgbClr val="334155"/>
                </a:solidFill>
                <a:latin typeface="Calibri"/>
              </a:rPr>
              <a:t>moyennes pondérées par coefficient</a:t>
            </a:r>
          </a:p>
          <a:p>
            <a:pPr lvl="1">
              <a:spcAft>
                <a:spcPts val="500"/>
              </a:spcAft>
            </a:pPr>
            <a:r>
              <a:rPr sz="1250" b="1">
                <a:solidFill>
                  <a:srgbClr val="64748B"/>
                </a:solidFill>
                <a:latin typeface="Calibri"/>
              </a:rPr>
              <a:t>•  </a:t>
            </a:r>
            <a:r>
              <a:rPr sz="1150" b="0">
                <a:solidFill>
                  <a:srgbClr val="334155"/>
                </a:solidFill>
                <a:latin typeface="Calibri"/>
              </a:rPr>
              <a:t>rang de l'élève, bulletin officiel + mention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257800"/>
            <a:ext cx="10927080" cy="10058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330952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Règles métier clés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650992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50" b="1">
                <a:solidFill>
                  <a:srgbClr val="10B981"/>
                </a:solidFill>
                <a:latin typeface="Calibri"/>
              </a:rPr>
              <a:t>▸  </a:t>
            </a:r>
            <a:r>
              <a:rPr sz="1150" b="1">
                <a:solidFill>
                  <a:srgbClr val="E2E8F0"/>
                </a:solidFill>
                <a:latin typeface="Calibri"/>
              </a:rPr>
              <a:t>Bulletins produits en PDF (Dompdf) ; appréciations pouvant être générées par IA (BulletinAIService).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EDU-SCHOOL — Plateforme de gestion scolaire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4592"/>
            <a:ext cx="146304" cy="7315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09 · ASSIDUITÉ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1148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Absences &amp; Assiduité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280160"/>
            <a:ext cx="502920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44168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Accès : ROLE_EDUCATEUR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659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Entités &amp; données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7744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 b="1">
                <a:solidFill>
                  <a:srgbClr val="10B981"/>
                </a:solidFill>
                <a:latin typeface="Calibri"/>
              </a:rPr>
              <a:t>▸  </a:t>
            </a:r>
            <a:r>
              <a:rPr sz="1250" b="1">
                <a:solidFill>
                  <a:srgbClr val="334155"/>
                </a:solidFill>
                <a:latin typeface="Calibri"/>
              </a:rPr>
              <a:t>Absence — date, plage horaire, motif, justification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10B981"/>
                </a:solidFill>
                <a:latin typeface="Calibri"/>
              </a:rPr>
              <a:t>▸  </a:t>
            </a:r>
            <a:r>
              <a:rPr sz="1250" b="1">
                <a:solidFill>
                  <a:srgbClr val="334155"/>
                </a:solidFill>
                <a:latin typeface="Calibri"/>
              </a:rPr>
              <a:t>AbsenceType — catégories d'absence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10B981"/>
                </a:solidFill>
                <a:latin typeface="Calibri"/>
              </a:rPr>
              <a:t>▸  </a:t>
            </a:r>
            <a:r>
              <a:rPr sz="1250" b="1">
                <a:solidFill>
                  <a:srgbClr val="334155"/>
                </a:solidFill>
                <a:latin typeface="Calibri"/>
              </a:rPr>
              <a:t>Workflow justification : pending → validé (+ justificatif)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9659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Contrôleurs &amp; 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37744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 b="1">
                <a:solidFill>
                  <a:srgbClr val="10B981"/>
                </a:solidFill>
                <a:latin typeface="Calibri"/>
              </a:rPr>
              <a:t>▸  </a:t>
            </a:r>
            <a:r>
              <a:rPr sz="1250" b="1">
                <a:solidFill>
                  <a:srgbClr val="334155"/>
                </a:solidFill>
                <a:latin typeface="Calibri"/>
              </a:rPr>
              <a:t>AbsenceController — saisie &amp; justification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10B981"/>
                </a:solidFill>
                <a:latin typeface="Calibri"/>
              </a:rPr>
              <a:t>▸  </a:t>
            </a:r>
            <a:r>
              <a:rPr sz="1250" b="1">
                <a:solidFill>
                  <a:srgbClr val="334155"/>
                </a:solidFill>
                <a:latin typeface="Calibri"/>
              </a:rPr>
              <a:t>AttendanceService :</a:t>
            </a:r>
          </a:p>
          <a:p>
            <a:pPr lvl="1">
              <a:spcAft>
                <a:spcPts val="500"/>
              </a:spcAft>
            </a:pPr>
            <a:r>
              <a:rPr sz="1250" b="1">
                <a:solidFill>
                  <a:srgbClr val="64748B"/>
                </a:solidFill>
                <a:latin typeface="Calibri"/>
              </a:rPr>
              <a:t>•  </a:t>
            </a:r>
            <a:r>
              <a:rPr sz="1150" b="0">
                <a:solidFill>
                  <a:srgbClr val="334155"/>
                </a:solidFill>
                <a:latin typeface="Calibri"/>
              </a:rPr>
              <a:t>stats par élève / classe / établissement</a:t>
            </a:r>
          </a:p>
          <a:p>
            <a:pPr lvl="1">
              <a:spcAft>
                <a:spcPts val="500"/>
              </a:spcAft>
            </a:pPr>
            <a:r>
              <a:rPr sz="1250" b="1">
                <a:solidFill>
                  <a:srgbClr val="64748B"/>
                </a:solidFill>
                <a:latin typeface="Calibri"/>
              </a:rPr>
              <a:t>•  </a:t>
            </a:r>
            <a:r>
              <a:rPr sz="1150" b="0">
                <a:solidFill>
                  <a:srgbClr val="334155"/>
                </a:solidFill>
                <a:latin typeface="Calibri"/>
              </a:rPr>
              <a:t>taux de présence, rapport détaillé</a:t>
            </a:r>
          </a:p>
          <a:p>
            <a:pPr lvl="1">
              <a:spcAft>
                <a:spcPts val="500"/>
              </a:spcAft>
            </a:pPr>
            <a:r>
              <a:rPr sz="1250" b="1">
                <a:solidFill>
                  <a:srgbClr val="64748B"/>
                </a:solidFill>
                <a:latin typeface="Calibri"/>
              </a:rPr>
              <a:t>•  </a:t>
            </a:r>
            <a:r>
              <a:rPr sz="1150" b="0">
                <a:solidFill>
                  <a:srgbClr val="334155"/>
                </a:solidFill>
                <a:latin typeface="Calibri"/>
              </a:rPr>
              <a:t>détection assiduité critique (seuil 75 %)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257800"/>
            <a:ext cx="10927080" cy="10058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330952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Règles métier clés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650992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50" b="1">
                <a:solidFill>
                  <a:srgbClr val="10B981"/>
                </a:solidFill>
                <a:latin typeface="Calibri"/>
              </a:rPr>
              <a:t>▸  </a:t>
            </a:r>
            <a:r>
              <a:rPr sz="1150" b="1">
                <a:solidFill>
                  <a:srgbClr val="E2E8F0"/>
                </a:solidFill>
                <a:latin typeface="Calibri"/>
              </a:rPr>
              <a:t>Le taux d'assiduité alimente les bulletins, les rapports et les alertes de l'espace parent.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EDU-SCHOOL — Plateforme de gestion scolaire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4592"/>
            <a:ext cx="146304" cy="7315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10 · RH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1148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Ressources Humaines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280160"/>
            <a:ext cx="502920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44168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Accès : ROLE_RH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659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Entités &amp; données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7744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 b="1">
                <a:solidFill>
                  <a:srgbClr val="10B981"/>
                </a:solidFill>
                <a:latin typeface="Calibri"/>
              </a:rPr>
              <a:t>▸  </a:t>
            </a:r>
            <a:r>
              <a:rPr sz="1250" b="1">
                <a:solidFill>
                  <a:srgbClr val="334155"/>
                </a:solidFill>
                <a:latin typeface="Calibri"/>
              </a:rPr>
              <a:t>Employee — dossier (type, poste, département, salaire, dates)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10B981"/>
                </a:solidFill>
                <a:latin typeface="Calibri"/>
              </a:rPr>
              <a:t>▸  </a:t>
            </a:r>
            <a:r>
              <a:rPr sz="1250" b="1">
                <a:solidFill>
                  <a:srgbClr val="334155"/>
                </a:solidFill>
                <a:latin typeface="Calibri"/>
              </a:rPr>
              <a:t>Contract — contrat (type, période d'essai, salaire, heures/sem, statut)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10B981"/>
                </a:solidFill>
                <a:latin typeface="Calibri"/>
              </a:rPr>
              <a:t>▸  </a:t>
            </a:r>
            <a:r>
              <a:rPr sz="1250" b="1">
                <a:solidFill>
                  <a:srgbClr val="334155"/>
                </a:solidFill>
                <a:latin typeface="Calibri"/>
              </a:rPr>
              <a:t>Teacher — profil enseignant lié à un employé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9659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Contrôleurs &amp; 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37744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 b="1">
                <a:solidFill>
                  <a:srgbClr val="10B981"/>
                </a:solidFill>
                <a:latin typeface="Calibri"/>
              </a:rPr>
              <a:t>▸  </a:t>
            </a:r>
            <a:r>
              <a:rPr sz="1250" b="1">
                <a:solidFill>
                  <a:srgbClr val="334155"/>
                </a:solidFill>
                <a:latin typeface="Calibri"/>
              </a:rPr>
              <a:t>EmployeeController · ContractController · TeacherController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10B981"/>
                </a:solidFill>
                <a:latin typeface="Calibri"/>
              </a:rPr>
              <a:t>▸  </a:t>
            </a:r>
            <a:r>
              <a:rPr sz="1250" b="1">
                <a:solidFill>
                  <a:srgbClr val="334155"/>
                </a:solidFill>
                <a:latin typeface="Calibri"/>
              </a:rPr>
              <a:t>UserEmployeeService — synchronise compte ↔ fiche employé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257800"/>
            <a:ext cx="10927080" cy="10058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330952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Règles métier clés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650992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50" b="1">
                <a:solidFill>
                  <a:srgbClr val="10B981"/>
                </a:solidFill>
                <a:latin typeface="Calibri"/>
              </a:rPr>
              <a:t>▸  </a:t>
            </a:r>
            <a:r>
              <a:rPr sz="1150" b="1">
                <a:solidFill>
                  <a:srgbClr val="E2E8F0"/>
                </a:solidFill>
                <a:latin typeface="Calibri"/>
              </a:rPr>
              <a:t>Un employé peut être lié à un compte utilisateur et à un profil enseignant ; il possède 0..n contrats.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EDU-SCHOOL — Plateforme de gestion scolaire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4592"/>
            <a:ext cx="146304" cy="7315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11 · FINANCES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1148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Finances — Caisse &amp; Frais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280160"/>
            <a:ext cx="502920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44168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Accès : ROLE_CAISSE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659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Entités &amp; données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7744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 b="1">
                <a:solidFill>
                  <a:srgbClr val="10B981"/>
                </a:solidFill>
                <a:latin typeface="Calibri"/>
              </a:rPr>
              <a:t>▸  </a:t>
            </a:r>
            <a:r>
              <a:rPr sz="1250" b="1">
                <a:solidFill>
                  <a:srgbClr val="334155"/>
                </a:solidFill>
                <a:latin typeface="Calibri"/>
              </a:rPr>
              <a:t>Fee — rubrique (catégorie, type, fréquence) + FeeSchedule (échéances)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10B981"/>
                </a:solidFill>
                <a:latin typeface="Calibri"/>
              </a:rPr>
              <a:t>▸  </a:t>
            </a:r>
            <a:r>
              <a:rPr sz="1250" b="1">
                <a:solidFill>
                  <a:srgbClr val="334155"/>
                </a:solidFill>
                <a:latin typeface="Calibri"/>
              </a:rPr>
              <a:t>StudentFee — frais affecté à l'élève (dû / payé / statut)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10B981"/>
                </a:solidFill>
                <a:latin typeface="Calibri"/>
              </a:rPr>
              <a:t>▸  </a:t>
            </a:r>
            <a:r>
              <a:rPr sz="1250" b="1">
                <a:solidFill>
                  <a:srgbClr val="334155"/>
                </a:solidFill>
                <a:latin typeface="Calibri"/>
              </a:rPr>
              <a:t>Payment — paiement (méthode, statut, reçu PDF)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10B981"/>
                </a:solidFill>
                <a:latin typeface="Calibri"/>
              </a:rPr>
              <a:t>▸  </a:t>
            </a:r>
            <a:r>
              <a:rPr sz="1250" b="1">
                <a:solidFill>
                  <a:srgbClr val="334155"/>
                </a:solidFill>
                <a:latin typeface="Calibri"/>
              </a:rPr>
              <a:t>CashRegister — caisse · CashDeposit — versement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10B981"/>
                </a:solidFill>
                <a:latin typeface="Calibri"/>
              </a:rPr>
              <a:t>▸  </a:t>
            </a:r>
            <a:r>
              <a:rPr sz="1250" b="1">
                <a:solidFill>
                  <a:srgbClr val="334155"/>
                </a:solidFill>
                <a:latin typeface="Calibri"/>
              </a:rPr>
              <a:t>Depense — dépense imputée à une caisse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9659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Contrôleurs &amp; 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37744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 b="1">
                <a:solidFill>
                  <a:srgbClr val="10B981"/>
                </a:solidFill>
                <a:latin typeface="Calibri"/>
              </a:rPr>
              <a:t>▸  </a:t>
            </a:r>
            <a:r>
              <a:rPr sz="1250" b="1">
                <a:solidFill>
                  <a:srgbClr val="334155"/>
                </a:solidFill>
                <a:latin typeface="Calibri"/>
              </a:rPr>
              <a:t>FeeController · PaymentController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10B981"/>
                </a:solidFill>
                <a:latin typeface="Calibri"/>
              </a:rPr>
              <a:t>▸  </a:t>
            </a:r>
            <a:r>
              <a:rPr sz="1250" b="1">
                <a:solidFill>
                  <a:srgbClr val="334155"/>
                </a:solidFill>
                <a:latin typeface="Calibri"/>
              </a:rPr>
              <a:t>CashRegisterController · DepenseController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10B981"/>
                </a:solidFill>
                <a:latin typeface="Calibri"/>
              </a:rPr>
              <a:t>▸  </a:t>
            </a:r>
            <a:r>
              <a:rPr sz="1250" b="1">
                <a:solidFill>
                  <a:srgbClr val="334155"/>
                </a:solidFill>
                <a:latin typeface="Calibri"/>
              </a:rPr>
              <a:t>FeeAssignmentService — affectation/sync des frais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10B981"/>
                </a:solidFill>
                <a:latin typeface="Calibri"/>
              </a:rPr>
              <a:t>▸  </a:t>
            </a:r>
            <a:r>
              <a:rPr sz="1250" b="1">
                <a:solidFill>
                  <a:srgbClr val="334155"/>
                </a:solidFill>
                <a:latin typeface="Calibri"/>
              </a:rPr>
              <a:t>PaymentReceiptService — reçu PDF détaillé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257800"/>
            <a:ext cx="10927080" cy="10058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330952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Règles métier clés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650992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50" b="1">
                <a:solidFill>
                  <a:srgbClr val="10B981"/>
                </a:solidFill>
                <a:latin typeface="Calibri"/>
              </a:rPr>
              <a:t>▸  </a:t>
            </a:r>
            <a:r>
              <a:rPr sz="1150" b="1">
                <a:solidFill>
                  <a:srgbClr val="E2E8F0"/>
                </a:solidFill>
                <a:latin typeface="Calibri"/>
              </a:rPr>
              <a:t>Solde caisse = Paiements − Versements approuvés − Dépenses · Reçu en toutes lettres (francs CFA).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EDU-SCHOOL — Plateforme de gestion scolaire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4592"/>
            <a:ext cx="146304" cy="7315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12 · RECOUVREMENT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1148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Recouvrement &amp; relances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280160"/>
            <a:ext cx="502920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44168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Accès : ROLE_RECOUVREMENT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659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Entités &amp; données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7744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 b="1">
                <a:solidFill>
                  <a:srgbClr val="10B981"/>
                </a:solidFill>
                <a:latin typeface="Calibri"/>
              </a:rPr>
              <a:t>▸  </a:t>
            </a:r>
            <a:r>
              <a:rPr sz="1250" b="1">
                <a:solidFill>
                  <a:srgbClr val="334155"/>
                </a:solidFill>
                <a:latin typeface="Calibri"/>
              </a:rPr>
              <a:t>Lignes de recouvrement par élève : dû, payé, solde, statut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10B981"/>
                </a:solidFill>
                <a:latin typeface="Calibri"/>
              </a:rPr>
              <a:t>▸  </a:t>
            </a:r>
            <a:r>
              <a:rPr sz="1250" b="1">
                <a:solidFill>
                  <a:srgbClr val="334155"/>
                </a:solidFill>
                <a:latin typeface="Calibri"/>
              </a:rPr>
              <a:t>Montant échu impayé, nb d'échéances échues, jours de retard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10B981"/>
                </a:solidFill>
                <a:latin typeface="Calibri"/>
              </a:rPr>
              <a:t>▸  </a:t>
            </a:r>
            <a:r>
              <a:rPr sz="1250" b="1">
                <a:solidFill>
                  <a:srgbClr val="334155"/>
                </a:solidFill>
                <a:latin typeface="Calibri"/>
              </a:rPr>
              <a:t>Prochaine échéance (date + montant)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9659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Contrôleurs &amp; 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37744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 b="1">
                <a:solidFill>
                  <a:srgbClr val="10B981"/>
                </a:solidFill>
                <a:latin typeface="Calibri"/>
              </a:rPr>
              <a:t>▸  </a:t>
            </a:r>
            <a:r>
              <a:rPr sz="1250" b="1">
                <a:solidFill>
                  <a:srgbClr val="334155"/>
                </a:solidFill>
                <a:latin typeface="Calibri"/>
              </a:rPr>
              <a:t>RecouvrementController — tableau de bord des soldes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10B981"/>
                </a:solidFill>
                <a:latin typeface="Calibri"/>
              </a:rPr>
              <a:t>▸  </a:t>
            </a:r>
            <a:r>
              <a:rPr sz="1250" b="1">
                <a:solidFill>
                  <a:srgbClr val="334155"/>
                </a:solidFill>
                <a:latin typeface="Calibri"/>
              </a:rPr>
              <a:t>RecouvrementService :</a:t>
            </a:r>
          </a:p>
          <a:p>
            <a:pPr lvl="1">
              <a:spcAft>
                <a:spcPts val="500"/>
              </a:spcAft>
            </a:pPr>
            <a:r>
              <a:rPr sz="1250" b="1">
                <a:solidFill>
                  <a:srgbClr val="64748B"/>
                </a:solidFill>
                <a:latin typeface="Calibri"/>
              </a:rPr>
              <a:t>•  </a:t>
            </a:r>
            <a:r>
              <a:rPr sz="1150" b="0">
                <a:solidFill>
                  <a:srgbClr val="334155"/>
                </a:solidFill>
                <a:latin typeface="Calibri"/>
              </a:rPr>
              <a:t>filtrage par catégorie de frais et par année</a:t>
            </a:r>
          </a:p>
          <a:p>
            <a:pPr lvl="1">
              <a:spcAft>
                <a:spcPts val="500"/>
              </a:spcAft>
            </a:pPr>
            <a:r>
              <a:rPr sz="1250" b="1">
                <a:solidFill>
                  <a:srgbClr val="64748B"/>
                </a:solidFill>
                <a:latin typeface="Calibri"/>
              </a:rPr>
              <a:t>•  </a:t>
            </a:r>
            <a:r>
              <a:rPr sz="1150" b="0">
                <a:solidFill>
                  <a:srgbClr val="334155"/>
                </a:solidFill>
                <a:latin typeface="Calibri"/>
              </a:rPr>
              <a:t>statut de relance basé sur les échéanciers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257800"/>
            <a:ext cx="10927080" cy="10058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330952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Règles métier clés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650992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50" b="1">
                <a:solidFill>
                  <a:srgbClr val="10B981"/>
                </a:solidFill>
                <a:latin typeface="Calibri"/>
              </a:rPr>
              <a:t>▸  </a:t>
            </a:r>
            <a:r>
              <a:rPr sz="1150" b="1">
                <a:solidFill>
                  <a:srgbClr val="E2E8F0"/>
                </a:solidFill>
                <a:latin typeface="Calibri"/>
              </a:rPr>
              <a:t>Seules les échéances dépassées et non couvertes par les paiements justifient une relance.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EDU-SCHOOL — Plateforme de gestion scolaire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4592"/>
            <a:ext cx="146304" cy="7315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13 · PAIEMENT EN LIGNE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1148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Paiement en ligne — GeniusPay (Mobile Money)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334155"/>
                </a:solidFill>
                <a:latin typeface="Calibri"/>
              </a:rPr>
              <a:t>Les parents règlent les frais en ligne via la passerelle GeniusPay (Mobile Money).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11680"/>
            <a:ext cx="2057400" cy="9144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2057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Parent
(espace parent)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43784" y="2011680"/>
            <a:ext cx="2057400" cy="9144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43784" y="2121408"/>
            <a:ext cx="2057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PaymentInitiator
initiate()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47488" y="2011680"/>
            <a:ext cx="2057400" cy="9144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47488" y="2121408"/>
            <a:ext cx="2057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GeniusPay
checkoutUrl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51192" y="2011680"/>
            <a:ext cx="2057400" cy="9144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51192" y="2121408"/>
            <a:ext cx="2057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Webhook signé
/webhook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54896" y="2011680"/>
            <a:ext cx="2057400" cy="9144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54896" y="2121408"/>
            <a:ext cx="2057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WebhookProcessor
MAJ Payment + StudentFee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Composants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79476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0B981"/>
                </a:solidFill>
                <a:latin typeface="Calibri"/>
              </a:rPr>
              <a:t>▸  </a:t>
            </a:r>
            <a:r>
              <a:rPr sz="1300" b="1">
                <a:solidFill>
                  <a:srgbClr val="334155"/>
                </a:solidFill>
                <a:latin typeface="Calibri"/>
              </a:rPr>
              <a:t>GeniusPayClient — createPayment() / getPaymentStatus()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0B981"/>
                </a:solidFill>
                <a:latin typeface="Calibri"/>
              </a:rPr>
              <a:t>▸  </a:t>
            </a:r>
            <a:r>
              <a:rPr sz="1300" b="1">
                <a:solidFill>
                  <a:srgbClr val="334155"/>
                </a:solidFill>
                <a:latin typeface="Calibri"/>
              </a:rPr>
              <a:t>GeniusPaySignatureVerifier — vérifie les webhooks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0B981"/>
                </a:solidFill>
                <a:latin typeface="Calibri"/>
              </a:rPr>
              <a:t>▸  </a:t>
            </a:r>
            <a:r>
              <a:rPr sz="1300" b="1">
                <a:solidFill>
                  <a:srgbClr val="334155"/>
                </a:solidFill>
                <a:latin typeface="Calibri"/>
              </a:rPr>
              <a:t>PaymentStatusSynchronizer — synchronise les statuts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0B981"/>
                </a:solidFill>
                <a:latin typeface="Calibri"/>
              </a:rPr>
              <a:t>▸  </a:t>
            </a:r>
            <a:r>
              <a:rPr sz="1300" b="1">
                <a:solidFill>
                  <a:srgbClr val="334155"/>
                </a:solidFill>
                <a:latin typeface="Calibri"/>
              </a:rPr>
              <a:t>OnlineCashRegisterProvider — caisse virtuelle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79476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0B981"/>
                </a:solidFill>
                <a:latin typeface="Calibri"/>
              </a:rPr>
              <a:t>▸  </a:t>
            </a:r>
            <a:r>
              <a:rPr sz="1300" b="1">
                <a:solidFill>
                  <a:srgbClr val="334155"/>
                </a:solidFill>
                <a:latin typeface="Calibri"/>
              </a:rPr>
              <a:t>MobileMoneyConfig — identifiants par établissement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0B981"/>
                </a:solidFill>
                <a:latin typeface="Calibri"/>
              </a:rPr>
              <a:t>▸  </a:t>
            </a:r>
            <a:r>
              <a:rPr sz="1300" b="1">
                <a:solidFill>
                  <a:srgbClr val="334155"/>
                </a:solidFill>
                <a:latin typeface="Calibri"/>
              </a:rPr>
              <a:t>PaymentWebhookEvent — journal des callbacks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0B981"/>
                </a:solidFill>
                <a:latin typeface="Calibri"/>
              </a:rPr>
              <a:t>▸  </a:t>
            </a:r>
            <a:r>
              <a:rPr sz="1300" b="1">
                <a:solidFill>
                  <a:srgbClr val="334155"/>
                </a:solidFill>
                <a:latin typeface="Calibri"/>
              </a:rPr>
              <a:t>Payment : provider, providerTransactionId, checkoutUrl, idempotencyKey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0B981"/>
                </a:solidFill>
                <a:latin typeface="Calibri"/>
              </a:rPr>
              <a:t>▸  </a:t>
            </a:r>
            <a:r>
              <a:rPr sz="1300" b="1">
                <a:solidFill>
                  <a:srgbClr val="334155"/>
                </a:solidFill>
                <a:latin typeface="Calibri"/>
              </a:rPr>
              <a:t>Webhook public sécurisé par signature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EDU-SCHOOL — Plateforme de gestion scolaire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4592"/>
            <a:ext cx="146304" cy="7315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14 · ESPACES DÉDIÉS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1148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Espaces Parent &amp; Fondateur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5394960" cy="44805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08760"/>
            <a:ext cx="4937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  <a:latin typeface="Calibri"/>
              </a:rPr>
              <a:t>Espace Parent  ·  ROLE_PARENT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0574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0B981"/>
                </a:solidFill>
                <a:latin typeface="Calibri"/>
              </a:rPr>
              <a:t>▸  </a:t>
            </a:r>
            <a:r>
              <a:rPr sz="1300" b="1">
                <a:solidFill>
                  <a:srgbClr val="E2E8F0"/>
                </a:solidFill>
                <a:latin typeface="Calibri"/>
              </a:rPr>
              <a:t>ParentPortalService — tableau de bord par enfant/année</a:t>
            </a:r>
          </a:p>
          <a:p>
            <a:pPr lvl="1">
              <a:spcAft>
                <a:spcPts val="600"/>
              </a:spcAft>
            </a:pPr>
            <a:r>
              <a:rPr sz="1300" b="1">
                <a:solidFill>
                  <a:srgbClr val="64748B"/>
                </a:solidFill>
                <a:latin typeface="Calibri"/>
              </a:rPr>
              <a:t>•  </a:t>
            </a:r>
            <a:r>
              <a:rPr sz="1200" b="0">
                <a:solidFill>
                  <a:srgbClr val="E2E8F0"/>
                </a:solidFill>
                <a:latin typeface="Calibri"/>
              </a:rPr>
              <a:t>getChildren() — enfants rattachés</a:t>
            </a:r>
          </a:p>
          <a:p>
            <a:pPr lvl="1">
              <a:spcAft>
                <a:spcPts val="600"/>
              </a:spcAft>
            </a:pPr>
            <a:r>
              <a:rPr sz="1300" b="1">
                <a:solidFill>
                  <a:srgbClr val="64748B"/>
                </a:solidFill>
                <a:latin typeface="Calibri"/>
              </a:rPr>
              <a:t>•  </a:t>
            </a:r>
            <a:r>
              <a:rPr sz="1200" b="0">
                <a:solidFill>
                  <a:srgbClr val="E2E8F0"/>
                </a:solidFill>
                <a:latin typeface="Calibri"/>
              </a:rPr>
              <a:t>getAcademicReport() — notes &amp; moyennes</a:t>
            </a:r>
          </a:p>
          <a:p>
            <a:pPr lvl="1">
              <a:spcAft>
                <a:spcPts val="600"/>
              </a:spcAft>
            </a:pPr>
            <a:r>
              <a:rPr sz="1300" b="1">
                <a:solidFill>
                  <a:srgbClr val="64748B"/>
                </a:solidFill>
                <a:latin typeface="Calibri"/>
              </a:rPr>
              <a:t>•  </a:t>
            </a:r>
            <a:r>
              <a:rPr sz="1200" b="0">
                <a:solidFill>
                  <a:srgbClr val="E2E8F0"/>
                </a:solidFill>
                <a:latin typeface="Calibri"/>
              </a:rPr>
              <a:t>getAttendanceReport() — assiduité</a:t>
            </a:r>
          </a:p>
          <a:p>
            <a:pPr lvl="1">
              <a:spcAft>
                <a:spcPts val="600"/>
              </a:spcAft>
            </a:pPr>
            <a:r>
              <a:rPr sz="1300" b="1">
                <a:solidFill>
                  <a:srgbClr val="64748B"/>
                </a:solidFill>
                <a:latin typeface="Calibri"/>
              </a:rPr>
              <a:t>•  </a:t>
            </a:r>
            <a:r>
              <a:rPr sz="1200" b="0">
                <a:solidFill>
                  <a:srgbClr val="E2E8F0"/>
                </a:solidFill>
                <a:latin typeface="Calibri"/>
              </a:rPr>
              <a:t>getFinancialReport() — situation financière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0B981"/>
                </a:solidFill>
                <a:latin typeface="Calibri"/>
              </a:rPr>
              <a:t>▸  </a:t>
            </a:r>
            <a:r>
              <a:rPr sz="1300" b="1">
                <a:solidFill>
                  <a:srgbClr val="E2E8F0"/>
                </a:solidFill>
                <a:latin typeface="Calibri"/>
              </a:rPr>
              <a:t>Réinscription en ligne d'un ancien élève (→ préinscription pending)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0B981"/>
                </a:solidFill>
                <a:latin typeface="Calibri"/>
              </a:rPr>
              <a:t>▸  </a:t>
            </a:r>
            <a:r>
              <a:rPr sz="1300" b="1">
                <a:solidFill>
                  <a:srgbClr val="E2E8F0"/>
                </a:solidFill>
                <a:latin typeface="Calibri"/>
              </a:rPr>
              <a:t>Paiement en ligne des frais (GeniusPay)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371600"/>
            <a:ext cx="5394960" cy="44805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508760"/>
            <a:ext cx="4937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  <a:latin typeface="Calibri"/>
              </a:rPr>
              <a:t>Espace Fondateur  ·  ROLE_FONDATEUR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0574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0B981"/>
                </a:solidFill>
                <a:latin typeface="Calibri"/>
              </a:rPr>
              <a:t>▸  </a:t>
            </a:r>
            <a:r>
              <a:rPr sz="1300" b="1">
                <a:solidFill>
                  <a:srgbClr val="E2E8F0"/>
                </a:solidFill>
                <a:latin typeface="Calibri"/>
              </a:rPr>
              <a:t>Supervision multi-établissements</a:t>
            </a:r>
          </a:p>
          <a:p>
            <a:pPr lvl="1">
              <a:spcAft>
                <a:spcPts val="600"/>
              </a:spcAft>
            </a:pPr>
            <a:r>
              <a:rPr sz="1300" b="1">
                <a:solidFill>
                  <a:srgbClr val="64748B"/>
                </a:solidFill>
                <a:latin typeface="Calibri"/>
              </a:rPr>
              <a:t>•  </a:t>
            </a:r>
            <a:r>
              <a:rPr sz="1200" b="0">
                <a:solidFill>
                  <a:srgbClr val="E2E8F0"/>
                </a:solidFill>
                <a:latin typeface="Calibri"/>
              </a:rPr>
              <a:t>Tableau de bord global</a:t>
            </a:r>
          </a:p>
          <a:p>
            <a:pPr lvl="1">
              <a:spcAft>
                <a:spcPts val="600"/>
              </a:spcAft>
            </a:pPr>
            <a:r>
              <a:rPr sz="1300" b="1">
                <a:solidFill>
                  <a:srgbClr val="64748B"/>
                </a:solidFill>
                <a:latin typeface="Calibri"/>
              </a:rPr>
              <a:t>•  </a:t>
            </a:r>
            <a:r>
              <a:rPr sz="1200" b="0">
                <a:solidFill>
                  <a:srgbClr val="E2E8F0"/>
                </a:solidFill>
                <a:latin typeface="Calibri"/>
              </a:rPr>
              <a:t>Validation des caisses (clôtures)</a:t>
            </a:r>
          </a:p>
          <a:p>
            <a:pPr lvl="1">
              <a:spcAft>
                <a:spcPts val="600"/>
              </a:spcAft>
            </a:pPr>
            <a:r>
              <a:rPr sz="1300" b="1">
                <a:solidFill>
                  <a:srgbClr val="64748B"/>
                </a:solidFill>
                <a:latin typeface="Calibri"/>
              </a:rPr>
              <a:t>•  </a:t>
            </a:r>
            <a:r>
              <a:rPr sz="1200" b="0">
                <a:solidFill>
                  <a:srgbClr val="E2E8F0"/>
                </a:solidFill>
                <a:latin typeface="Calibri"/>
              </a:rPr>
              <a:t>Gestion des autorisations</a:t>
            </a:r>
          </a:p>
          <a:p>
            <a:pPr lvl="1">
              <a:spcAft>
                <a:spcPts val="600"/>
              </a:spcAft>
            </a:pPr>
            <a:r>
              <a:rPr sz="1300" b="1">
                <a:solidFill>
                  <a:srgbClr val="64748B"/>
                </a:solidFill>
                <a:latin typeface="Calibri"/>
              </a:rPr>
              <a:t>•  </a:t>
            </a:r>
            <a:r>
              <a:rPr sz="1200" b="0">
                <a:solidFill>
                  <a:srgbClr val="E2E8F0"/>
                </a:solidFill>
                <a:latin typeface="Calibri"/>
              </a:rPr>
              <a:t>Validation des versements (CashDeposit)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0B981"/>
                </a:solidFill>
                <a:latin typeface="Calibri"/>
              </a:rPr>
              <a:t>▸  </a:t>
            </a:r>
            <a:r>
              <a:rPr sz="1300" b="1">
                <a:solidFill>
                  <a:srgbClr val="E2E8F0"/>
                </a:solidFill>
                <a:latin typeface="Calibri"/>
              </a:rPr>
              <a:t>Périmètre limité à ses propres établissements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EDU-SCHOOL — Plateforme de gestion scolaire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4592"/>
            <a:ext cx="146304" cy="7315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15 · PILOTAGE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1148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Communication &amp; Rapports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280160"/>
            <a:ext cx="502920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44168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Accès : Selon le rôle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659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Entités &amp; données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7744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 b="1">
                <a:solidFill>
                  <a:srgbClr val="10B981"/>
                </a:solidFill>
                <a:latin typeface="Calibri"/>
              </a:rPr>
              <a:t>▸  </a:t>
            </a:r>
            <a:r>
              <a:rPr sz="1250" b="1">
                <a:solidFill>
                  <a:srgbClr val="334155"/>
                </a:solidFill>
                <a:latin typeface="Calibri"/>
              </a:rPr>
              <a:t>Notification — alertes internes (titre, message, lien, icône)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10B981"/>
                </a:solidFill>
                <a:latin typeface="Calibri"/>
              </a:rPr>
              <a:t>▸  </a:t>
            </a:r>
            <a:r>
              <a:rPr sz="1250" b="1">
                <a:solidFill>
                  <a:srgbClr val="334155"/>
                </a:solidFill>
                <a:latin typeface="Calibri"/>
              </a:rPr>
              <a:t>Badge non-lus dans la barre supérieure, marquage lu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10B981"/>
                </a:solidFill>
                <a:latin typeface="Calibri"/>
              </a:rPr>
              <a:t>▸  </a:t>
            </a:r>
            <a:r>
              <a:rPr sz="1250" b="1">
                <a:solidFill>
                  <a:srgbClr val="334155"/>
                </a:solidFill>
                <a:latin typeface="Calibri"/>
              </a:rPr>
              <a:t>E-mails via Symfony Mailer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9659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Contrôleurs &amp; 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37744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 b="1">
                <a:solidFill>
                  <a:srgbClr val="10B981"/>
                </a:solidFill>
                <a:latin typeface="Calibri"/>
              </a:rPr>
              <a:t>▸  </a:t>
            </a:r>
            <a:r>
              <a:rPr sz="1250" b="1">
                <a:solidFill>
                  <a:srgbClr val="334155"/>
                </a:solidFill>
                <a:latin typeface="Calibri"/>
              </a:rPr>
              <a:t>NotificationController · NotificationService</a:t>
            </a:r>
          </a:p>
          <a:p>
            <a:pPr lvl="1">
              <a:spcAft>
                <a:spcPts val="500"/>
              </a:spcAft>
            </a:pPr>
            <a:r>
              <a:rPr sz="1250" b="1">
                <a:solidFill>
                  <a:srgbClr val="64748B"/>
                </a:solidFill>
                <a:latin typeface="Calibri"/>
              </a:rPr>
              <a:t>•  </a:t>
            </a:r>
            <a:r>
              <a:rPr sz="1150" b="0">
                <a:solidFill>
                  <a:srgbClr val="334155"/>
                </a:solidFill>
                <a:latin typeface="Calibri"/>
              </a:rPr>
              <a:t>notify() — notification individuelle</a:t>
            </a:r>
          </a:p>
          <a:p>
            <a:pPr lvl="1">
              <a:spcAft>
                <a:spcPts val="500"/>
              </a:spcAft>
            </a:pPr>
            <a:r>
              <a:rPr sz="1250" b="1">
                <a:solidFill>
                  <a:srgbClr val="64748B"/>
                </a:solidFill>
                <a:latin typeface="Calibri"/>
              </a:rPr>
              <a:t>•  </a:t>
            </a:r>
            <a:r>
              <a:rPr sz="1150" b="0">
                <a:solidFill>
                  <a:srgbClr val="334155"/>
                </a:solidFill>
                <a:latin typeface="Calibri"/>
              </a:rPr>
              <a:t>notifyRole() — diffusion à tous les rôles ciblés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10B981"/>
                </a:solidFill>
                <a:latin typeface="Calibri"/>
              </a:rPr>
              <a:t>▸  </a:t>
            </a:r>
            <a:r>
              <a:rPr sz="1250" b="1">
                <a:solidFill>
                  <a:srgbClr val="334155"/>
                </a:solidFill>
                <a:latin typeface="Calibri"/>
              </a:rPr>
              <a:t>ReportController · AcademicReportController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10B981"/>
                </a:solidFill>
                <a:latin typeface="Calibri"/>
              </a:rPr>
              <a:t>▸  </a:t>
            </a:r>
            <a:r>
              <a:rPr sz="1250" b="1">
                <a:solidFill>
                  <a:srgbClr val="334155"/>
                </a:solidFill>
                <a:latin typeface="Calibri"/>
              </a:rPr>
              <a:t>Exports PDF (Dompdf) et Excel (PhpSpreadsheet)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257800"/>
            <a:ext cx="10927080" cy="10058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330952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Règles métier clés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650992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50" b="1">
                <a:solidFill>
                  <a:srgbClr val="10B981"/>
                </a:solidFill>
                <a:latin typeface="Calibri"/>
              </a:rPr>
              <a:t>▸  </a:t>
            </a:r>
            <a:r>
              <a:rPr sz="1150" b="1">
                <a:solidFill>
                  <a:srgbClr val="E2E8F0"/>
                </a:solidFill>
                <a:latin typeface="Calibri"/>
              </a:rPr>
              <a:t>Les rapports peuvent être synthétisés par IA (ReportAIService) ; documents gérés via elFinder/CKEditor.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EDU-SCHOOL — Plateforme de gestion scolaire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4592"/>
            <a:ext cx="146304" cy="7315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16 · 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11480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Intelligence Artificielle (API Claude)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334155"/>
                </a:solidFill>
                <a:latin typeface="Calibri"/>
              </a:rPr>
              <a:t>Intégration de l'API Anthropic Claude — activable via AI_ENABLED, modèle configurable (AI_MODEL).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Service de base — AIService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Calibri"/>
              </a:rPr>
              <a:t>▸  </a:t>
            </a:r>
            <a:r>
              <a:rPr sz="1300" b="1">
                <a:solidFill>
                  <a:srgbClr val="334155"/>
                </a:solidFill>
                <a:latin typeface="Calibri"/>
              </a:rPr>
              <a:t>Appelle l'API Claude · ask() avec cache (AI_CACHE_TTL) / askWithoutCache() · plafond AI_MAX_TOKENS.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632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Services spécialisés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520440"/>
            <a:ext cx="2697480" cy="18288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520440"/>
            <a:ext cx="269748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840480"/>
            <a:ext cx="2697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10B981"/>
                </a:solidFill>
                <a:latin typeface="Calibri"/>
              </a:rPr>
              <a:t>BulletinAIService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434840"/>
            <a:ext cx="2697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E2E8F0"/>
                </a:solidFill>
                <a:latin typeface="Calibri"/>
              </a:rPr>
              <a:t>Appréciations de bulletin
à partir des notes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56432" y="3520440"/>
            <a:ext cx="2697480" cy="18288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56432" y="3520440"/>
            <a:ext cx="269748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56432" y="3840480"/>
            <a:ext cx="2697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10B981"/>
                </a:solidFill>
                <a:latin typeface="Calibri"/>
              </a:rPr>
              <a:t>AttendanceAIService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56432" y="4434840"/>
            <a:ext cx="2697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E2E8F0"/>
                </a:solidFill>
                <a:latin typeface="Calibri"/>
              </a:rPr>
              <a:t>Analyse des absences
+ recommandations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2784" y="3520440"/>
            <a:ext cx="2697480" cy="18288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2784" y="3520440"/>
            <a:ext cx="269748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2784" y="3840480"/>
            <a:ext cx="2697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10B981"/>
                </a:solidFill>
                <a:latin typeface="Calibri"/>
              </a:rPr>
              <a:t>ReportAIService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2784" y="4434840"/>
            <a:ext cx="2697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E2E8F0"/>
                </a:solidFill>
                <a:latin typeface="Calibri"/>
              </a:rPr>
              <a:t>Synthèse des rapports
d'établissement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89136" y="3520440"/>
            <a:ext cx="2697480" cy="18288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89136" y="3520440"/>
            <a:ext cx="269748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89136" y="3840480"/>
            <a:ext cx="2697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10B981"/>
                </a:solidFill>
                <a:latin typeface="Calibri"/>
              </a:rPr>
              <a:t>ChatbotAIService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89136" y="4434840"/>
            <a:ext cx="2697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E2E8F0"/>
                </a:solidFill>
                <a:latin typeface="Calibri"/>
              </a:rPr>
              <a:t>Assistant conversationnel
contextualisé par profil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EDU-SCHOOL — Plateforme de gestion scolaire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Calibri"/>
              </a:rPr>
              <a:t>Merci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3474720"/>
            <a:ext cx="27432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E2E8F0"/>
                </a:solidFill>
                <a:latin typeface="Calibri"/>
              </a:rPr>
              <a:t>EDU-SCHOOL — une plateforme scolaire complète, modulaire et multi-établissements.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Préinscription · Scolarité · Notes &amp; Bulletins · Finances · RH · 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